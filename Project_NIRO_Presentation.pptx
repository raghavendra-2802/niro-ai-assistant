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0" y="1645920"/>
            <a:ext cx="3383280" cy="457200"/>
          </a:xfrm>
          <a:prstGeom prst="roundRect">
            <a:avLst/>
          </a:prstGeom>
          <a:solidFill>
            <a:srgbClr val="002823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Enterprise Knowledge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1F5F9"/>
                </a:solidFill>
              </a:defRPr>
            </a:pPr>
            <a:r>
              <a:t>Project NIRO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94A3B8"/>
                </a:solidFill>
              </a:defRPr>
            </a:pPr>
            <a:r>
              <a:t>The trusted intelligence layer that connects every employee with the right knowledge, the right guidance, and the right workflow — at exactly the moment they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D4AA"/>
                </a:solidFill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</a:defRPr>
            </a:pPr>
            <a:r>
              <a:t>Instantly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6B6D4"/>
                </a:solidFill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</a:defRPr>
            </a:pPr>
            <a:r>
              <a:t>Clearly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8B5CF6"/>
                </a:solidFill>
              </a:defRPr>
            </a:pPr>
            <a: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</a:defRPr>
            </a:pPr>
            <a:r>
              <a:t>Confidently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The Fundamental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</a:defRPr>
            </a:pPr>
            <a:r>
              <a:t>Organizations do not suffer from a lack of knowledge — they suffer from a lack of accessible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320040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31089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Time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Employees spend valuable time searching for answers across fragmented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320040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310896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Repetition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389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Same questions asked again and again, draining senior colleague capacity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320040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52360" y="31089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Silos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89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Knowledge trapped in videos, emails, chats, and experienced minds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560320" cy="320040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87000" y="31089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Inconsistency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389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Slower onboarding, uneven execution, and lost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1F5F9"/>
                </a:solidFill>
              </a:defRPr>
            </a:pPr>
            <a:r>
              <a:t>The Trusted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A3B8"/>
                </a:solidFill>
              </a:defRPr>
            </a:pPr>
            <a:r>
              <a:t>Connecting every employee with the right knowledge, guidance, and workflow at exactly the moment they need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5029200" cy="1645920"/>
          </a:xfrm>
          <a:prstGeom prst="roundRect">
            <a:avLst/>
          </a:prstGeom>
          <a:solidFill>
            <a:srgbClr val="191E2D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1F5F9"/>
                </a:solidFill>
              </a:defRPr>
            </a:pPr>
            <a:r>
              <a:t>"Making organizational knowledge instantly discoverable, understandable, and actionable."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6B6D4"/>
                </a:solidFill>
              </a:defRPr>
            </a:pPr>
            <a: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1F5F9"/>
                </a:solidFill>
              </a:defRPr>
            </a:pPr>
            <a:r>
              <a:t>Empower Every Employee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377440"/>
            <a:ext cx="4572000" cy="548640"/>
          </a:xfrm>
          <a:prstGeom prst="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50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1F5F9"/>
                </a:solidFill>
              </a:defRPr>
            </a:pPr>
            <a:r>
              <a:t>Learn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4505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06B6D4"/>
                </a:solidFill>
              </a:defRPr>
            </a:pPr>
            <a: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4572000" cy="548640"/>
          </a:xfrm>
          <a:prstGeom prst="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090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1F5F9"/>
                </a:solidFill>
              </a:defRPr>
            </a:pPr>
            <a:r>
              <a:t>Work Smarter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090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06B6D4"/>
                </a:solidFill>
              </a:defRPr>
            </a:pPr>
            <a: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657600"/>
            <a:ext cx="4572000" cy="548640"/>
          </a:xfrm>
          <a:prstGeom prst="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30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1F5F9"/>
                </a:solidFill>
              </a:defRPr>
            </a:pPr>
            <a:r>
              <a:t>Decide Better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7307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06B6D4"/>
                </a:solidFill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297679"/>
            <a:ext cx="4572000" cy="548640"/>
          </a:xfrm>
          <a:prstGeom prst="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70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1F5F9"/>
                </a:solidFill>
              </a:defRPr>
            </a:pPr>
            <a:r>
              <a:t>Preserve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37083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06B6D4"/>
                </a:solidFill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The Product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</a:defRPr>
            </a:pPr>
            <a:r>
              <a:t>Whenever an employee begins a task or asks a question, NIRO provides the most relevant, trusted, secure, understandable, and actionable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3200400" cy="1097280"/>
          </a:xfrm>
          <a:prstGeom prst="round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63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Employee asks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or starts a new task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80" y="3246120"/>
            <a:ext cx="91440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52160" y="2880360"/>
            <a:ext cx="1188720" cy="11887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246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A0E1A"/>
                </a:solidFill>
              </a:defRPr>
            </a:pPr>
            <a:r>
              <a:t>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3760" y="3246120"/>
            <a:ext cx="91440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3200400" cy="1097280"/>
          </a:xfrm>
          <a:prstGeom prst="round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NIRO responds instantly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with approved, cited guidance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572000"/>
            <a:ext cx="2011680" cy="457200"/>
          </a:xfrm>
          <a:prstGeom prst="roundRect">
            <a:avLst/>
          </a:prstGeom>
          <a:solidFill>
            <a:srgbClr val="002823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4AA"/>
                </a:solidFill>
              </a:defRPr>
            </a:pPr>
            <a:r>
              <a:t>✓ Relevant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39" y="4572000"/>
            <a:ext cx="2011680" cy="457200"/>
          </a:xfrm>
          <a:prstGeom prst="roundRect">
            <a:avLst/>
          </a:prstGeom>
          <a:solidFill>
            <a:srgbClr val="002823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39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4AA"/>
                </a:solidFill>
              </a:defRPr>
            </a:pPr>
            <a:r>
              <a:t>✓ Trusted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572000"/>
            <a:ext cx="2011680" cy="457200"/>
          </a:xfrm>
          <a:prstGeom prst="roundRect">
            <a:avLst/>
          </a:prstGeom>
          <a:solidFill>
            <a:srgbClr val="002823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4AA"/>
                </a:solidFill>
              </a:defRPr>
            </a:pPr>
            <a:r>
              <a:t>✓ Secure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59" y="4572000"/>
            <a:ext cx="2011680" cy="457200"/>
          </a:xfrm>
          <a:prstGeom prst="roundRect">
            <a:avLst/>
          </a:prstGeom>
          <a:solidFill>
            <a:srgbClr val="002823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59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4AA"/>
                </a:solidFill>
              </a:defRPr>
            </a:pPr>
            <a:r>
              <a:t>✓ Understandable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19" y="4572000"/>
            <a:ext cx="2011680" cy="457200"/>
          </a:xfrm>
          <a:prstGeom prst="roundRect">
            <a:avLst/>
          </a:prstGeom>
          <a:solidFill>
            <a:srgbClr val="002823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19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4AA"/>
                </a:solidFill>
              </a:defRPr>
            </a:pPr>
            <a:r>
              <a:t>✓ Actionable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</a:defRPr>
            </a:pPr>
            <a:r>
              <a:t>Every feature and product decision is guided by these six core principles.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4A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1F5F9"/>
                </a:solidFill>
              </a:defRPr>
            </a:pPr>
            <a:r>
              <a:t>Trusted before Intelligent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</a:defRPr>
            </a:pPr>
            <a:r>
              <a:t>Trust is the foundation. Citations and transparency build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F4444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1F5F9"/>
                </a:solidFill>
              </a:defRPr>
            </a:pPr>
            <a:r>
              <a:t>Secure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</a:defRPr>
            </a:pPr>
            <a:r>
              <a:t>Role-based access, governance, auditability, and content ownership built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56032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6B6D4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1F5F9"/>
                </a:solidFill>
              </a:defRPr>
            </a:pPr>
            <a:r>
              <a:t>Context over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</a:defRPr>
            </a:pPr>
            <a:r>
              <a:t>Deliver what the user needs, not just what they searched for.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1F5F9"/>
                </a:solidFill>
              </a:defRPr>
            </a:pPr>
            <a:r>
              <a:t>Learning by Doing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</a:defRPr>
            </a:pPr>
            <a:r>
              <a:t>Knowledge applied in workflow, not consumed in isolation.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57200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9E0B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1F5F9"/>
                </a:solidFill>
              </a:defRPr>
            </a:pPr>
            <a:r>
              <a:t>Simplicity Wins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</a:defRPr>
            </a:pPr>
            <a:r>
              <a:t>Complexity hidden. The experience feels effortless.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457200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1F5F9"/>
                </a:solidFill>
              </a:defRPr>
            </a:pPr>
            <a:r>
              <a:t>Outcomes over 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</a:defRPr>
            </a:pPr>
            <a:r>
              <a:t>Success is measured by results, not time spent in the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The Employee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</a:defRPr>
            </a:pPr>
            <a:r>
              <a:t>Every interaction should feel like asking the organization's most experienced colleague.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029200" cy="3474720"/>
          </a:xfrm>
          <a:prstGeom prst="round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D4AA"/>
                </a:solidFill>
              </a:defRPr>
            </a:pPr>
            <a:r>
              <a:t>The Ideal Colleague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4663440" cy="4572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1F5F9"/>
                </a:solidFill>
              </a:defRPr>
            </a:pPr>
            <a:r>
              <a:t>Always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73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00D4AA"/>
                </a:solidFill>
              </a:defRPr>
            </a:pPr>
            <a:r>
              <a:t>24/7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749039"/>
            <a:ext cx="4663440" cy="4572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221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1F5F9"/>
                </a:solidFill>
              </a:defRPr>
            </a:pPr>
            <a:r>
              <a:t>Infinitely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221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00D4AA"/>
                </a:solidFill>
              </a:defRPr>
            </a:pPr>
            <a:r>
              <a:t>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97680"/>
            <a:ext cx="4663440" cy="4572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70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1F5F9"/>
                </a:solidFill>
              </a:defRPr>
            </a:pPr>
            <a:r>
              <a:t>Deeply Knowledgeable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708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00D4AA"/>
                </a:solidFill>
              </a:defRPr>
            </a:pPr>
            <a:r>
              <a:t>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46320"/>
            <a:ext cx="4663440" cy="4572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19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1F5F9"/>
                </a:solidFill>
              </a:defRPr>
            </a:pPr>
            <a:r>
              <a:t>Backed by Approved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19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00D4AA"/>
                </a:solidFill>
              </a:defRPr>
            </a:pPr>
            <a: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60320"/>
            <a:ext cx="5029200" cy="1371600"/>
          </a:xfrm>
          <a:prstGeom prst="roundRect">
            <a:avLst/>
          </a:prstGeom>
          <a:solidFill>
            <a:srgbClr val="1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</a:defRPr>
            </a:pPr>
            <a:r>
              <a:t>Before NIRO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F1F5F9"/>
                </a:solidFill>
              </a:defRPr>
            </a:pPr>
            <a:r>
              <a:t>"Where do I find the SOP for this?"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06240"/>
            <a:ext cx="5029200" cy="1371600"/>
          </a:xfrm>
          <a:prstGeom prst="roundRect">
            <a:avLst/>
          </a:prstGeom>
          <a:solidFill>
            <a:srgbClr val="00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D4AA"/>
                </a:solidFill>
              </a:defRPr>
            </a:pPr>
            <a:r>
              <a:t>After NIRO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F1F5F9"/>
                </a:solidFill>
              </a:defRPr>
            </a:pPr>
            <a:r>
              <a:t>"Here's exactly what to do next, with the source document."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</a:defRPr>
            </a:pPr>
            <a:r>
              <a:t>A three-phase evolution from knowledge discovery to enterprise intelligence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94183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3337560"/>
            <a:ext cx="640080" cy="640080"/>
          </a:xfrm>
          <a:prstGeom prst="ellipse">
            <a:avLst/>
          </a:prstGeom>
          <a:solidFill>
            <a:srgbClr val="111827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429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1F5F9"/>
                </a:solidFill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Onboarding acceleration, trusted knowledge discovery, and eliminating repetitive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5577840"/>
            <a:ext cx="2194560" cy="5080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5577840"/>
            <a:ext cx="219456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0" y="3337560"/>
            <a:ext cx="640080" cy="640080"/>
          </a:xfrm>
          <a:prstGeom prst="ellipse">
            <a:avLst/>
          </a:prstGeom>
          <a:solidFill>
            <a:srgbClr val="111827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429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6B6D4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1F5F9"/>
                </a:solidFill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80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Workflow assistance, continuous learning loops, and proactive guidance in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5577840"/>
            <a:ext cx="2194560" cy="5080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5577840"/>
            <a:ext cx="131673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3337560"/>
            <a:ext cx="640080" cy="640080"/>
          </a:xfrm>
          <a:prstGeom prst="ellipse">
            <a:avLst/>
          </a:prstGeom>
          <a:solidFill>
            <a:srgbClr val="111827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429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1F5F9"/>
                </a:solidFill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</a:defRPr>
            </a:pPr>
            <a:r>
              <a:t>Enterprise knowledge ecosystem with analytics, recommendations, and workflow orchestration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5577840"/>
            <a:ext cx="2194560" cy="5080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5577840"/>
            <a:ext cx="438912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Defining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</a:defRPr>
            </a:pPr>
            <a:r>
              <a:t>Measured by outcomes — not by time spent inside the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D4AA"/>
                </a:solidFill>
              </a:defRPr>
            </a:pPr>
            <a: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Faster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</a:defRPr>
            </a:pPr>
            <a:r>
              <a:t>New hires reach full productivity in record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6B6D4"/>
                </a:solidFill>
              </a:defRPr>
            </a:pPr>
            <a:r>
              <a:t>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Fewer Repetitive Qs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</a:defRPr>
            </a:pPr>
            <a:r>
              <a:t>Senior staff freed to focus on high-value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46888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8B5CF6"/>
                </a:solidFill>
              </a:defRPr>
            </a:pPr>
            <a: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91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Higher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</a:defRPr>
            </a:pPr>
            <a:r>
              <a:t>Employees act decisively with trusted guidance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59E0B"/>
                </a:solidFill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Better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</a:defRPr>
            </a:pPr>
            <a:r>
              <a:t>Organizational knowledge preserved and scaled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48056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0B981"/>
                </a:solidFill>
              </a:defRPr>
            </a:pPr>
            <a: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03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Higher Productivity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</a:defRPr>
            </a:pPr>
            <a:r>
              <a:t>Less searching, more doing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4480560"/>
            <a:ext cx="3566160" cy="17373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663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F4444"/>
                </a:solidFill>
              </a:defRPr>
            </a:pPr>
            <a: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03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1F5F9"/>
                </a:solidFill>
              </a:defRPr>
            </a:pPr>
            <a:r>
              <a:t>Consistent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</a:defRPr>
            </a:pPr>
            <a:r>
              <a:t>Uniform quality across all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0" b="1" i="0">
                <a:solidFill>
                  <a:srgbClr val="003C32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</a:defRPr>
            </a:pPr>
            <a:r>
              <a:t>BELIEFS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Core Beliefs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</a:defRPr>
            </a:pPr>
            <a:r>
              <a:t>The non-negotiables that shape every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8229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6350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1F5F9"/>
                </a:solidFill>
              </a:defRPr>
            </a:pPr>
            <a:r>
              <a:t>Accessible to Everyone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</a:defRPr>
            </a:pPr>
            <a:r>
              <a:t>— with the right permissions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698480" cy="8229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635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84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1F5F9"/>
                </a:solidFill>
              </a:defRPr>
            </a:pPr>
            <a:r>
              <a:t>Learning Never Stops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</a:defRPr>
            </a:pPr>
            <a:r>
              <a:t>— beyond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8229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350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902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1F5F9"/>
                </a:solidFill>
              </a:defRPr>
            </a:pPr>
            <a:r>
              <a:t>Trust Through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</a:defRPr>
            </a:pPr>
            <a:r>
              <a:t>— citations and explainability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91E2D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623560"/>
            <a:ext cx="635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96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1F5F9"/>
                </a:solidFill>
              </a:defRPr>
            </a:pPr>
            <a:r>
              <a:t>Amplify, Don't Replace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</a:defRPr>
            </a:pPr>
            <a:r>
              <a:t>— human expertise elevated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0" y="1371600"/>
            <a:ext cx="3383280" cy="457200"/>
          </a:xfrm>
          <a:prstGeom prst="roundRect">
            <a:avLst/>
          </a:prstGeom>
          <a:solidFill>
            <a:srgbClr val="1E1432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The Future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</a:defRPr>
            </a:pPr>
            <a:r>
              <a:t>Closing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4A3B8"/>
                </a:solidFill>
              </a:defRPr>
            </a:pPr>
            <a:r>
              <a:t>The future of work is not about adding more tools. It is about making existing knowledge easier to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1F5F9"/>
                </a:solidFill>
              </a:defRPr>
            </a:pPr>
            <a:r>
              <a:t>NIRO becomes the trusted intelligence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572000"/>
            <a:ext cx="2011680" cy="914400"/>
          </a:xfrm>
          <a:prstGeom prst="roundRect">
            <a:avLst/>
          </a:prstGeom>
          <a:solidFill>
            <a:srgbClr val="191E2D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D4AA"/>
                </a:solidFill>
              </a:defRPr>
            </a:pPr>
            <a: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4A3B8"/>
                </a:solidFill>
              </a:defRPr>
            </a:pPr>
            <a: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2011680" cy="914400"/>
          </a:xfrm>
          <a:prstGeom prst="roundRect">
            <a:avLst/>
          </a:prstGeom>
          <a:solidFill>
            <a:srgbClr val="191E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6B6D4"/>
                </a:solidFill>
              </a:defRPr>
            </a:pPr>
            <a:r>
              <a:t>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4A3B8"/>
                </a:solidFill>
              </a:defRPr>
            </a:pPr>
            <a: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572000"/>
            <a:ext cx="2011680" cy="914400"/>
          </a:xfrm>
          <a:prstGeom prst="roundRect">
            <a:avLst/>
          </a:prstGeom>
          <a:solidFill>
            <a:srgbClr val="191E2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B5CF6"/>
                </a:solidFill>
              </a:defRPr>
            </a:pPr>
            <a:r>
              <a:t>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AA"/>
                </a:solidFill>
              </a:defRPr>
            </a:pPr>
            <a: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4572000"/>
            <a:ext cx="2011680" cy="914400"/>
          </a:xfrm>
          <a:prstGeom prst="roundRect">
            <a:avLst/>
          </a:prstGeom>
          <a:solidFill>
            <a:srgbClr val="003C32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709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D4AA"/>
                </a:solidFill>
              </a:defRPr>
            </a:pPr>
            <a:r>
              <a:t>One Guided</a:t>
            </a:r>
            <a:br/>
            <a:r>
              <a:t>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