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7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Content is based on user-provided NIRO concept and slide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Content is based on user-provided NIRO concept and slide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Content is based on user-provided NIRO concept and slide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Content is based on user-provided NIRO concept and slide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Content is based on user-provided NIRO concept and slide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Content is based on user-provided NIRO concept and slide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Content is based on user-provided NIRO concept and slide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2926080" cy="2011680"/>
          </a:xfrm>
          <a:prstGeom prst="ellipse">
            <a:avLst/>
          </a:prstGeom>
          <a:solidFill>
            <a:srgbClr val="9CF5D5">
              <a:alpha val="24000"/>
            </a:srgbClr>
          </a:solidFill>
          <a:ln w="12700">
            <a:solidFill>
              <a:srgbClr val="9CF5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98280" y="91440"/>
            <a:ext cx="2926080" cy="2011680"/>
          </a:xfrm>
          <a:prstGeom prst="ellipse">
            <a:avLst/>
          </a:prstGeom>
          <a:solidFill>
            <a:srgbClr val="BBA7FF">
              <a:alpha val="23000"/>
            </a:srgbClr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0" y="5074920"/>
            <a:ext cx="3383280" cy="1508760"/>
          </a:xfrm>
          <a:prstGeom prst="ellipse">
            <a:avLst/>
          </a:prstGeom>
          <a:solidFill>
            <a:srgbClr val="FFD6B8">
              <a:alpha val="20000"/>
            </a:srgbClr>
          </a:solidFill>
          <a:ln w="12700">
            <a:solidFill>
              <a:srgbClr val="FFD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0" y="146304"/>
            <a:ext cx="2377440" cy="1051560"/>
          </a:xfrm>
          <a:prstGeom prst="ellipse">
            <a:avLst/>
          </a:prstGeom>
          <a:solidFill>
            <a:srgbClr val="DFF7FF">
              <a:alpha val="17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309360" y="640080"/>
            <a:ext cx="5422392" cy="5742432"/>
          </a:xfrm>
          <a:prstGeom prst="roundRect">
            <a:avLst>
              <a:gd name="adj" fmla="val 4216"/>
            </a:avLst>
          </a:prstGeom>
          <a:solidFill>
            <a:srgbClr val="CFE4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AFC2D8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16f73391d5.jpeg"/>
          <p:cNvPicPr>
            <a:picLocks noChangeAspect="1"/>
          </p:cNvPicPr>
          <p:nvPr/>
        </p:nvPicPr>
        <p:blipFill>
          <a:blip r:embed="rId3"/>
          <a:srcRect l="18524" r="18524"/>
          <a:stretch/>
        </p:blipFill>
        <p:spPr>
          <a:xfrm>
            <a:off x="6263640" y="566928"/>
            <a:ext cx="5422392" cy="57424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63640" y="566928"/>
            <a:ext cx="5422392" cy="5742432"/>
          </a:xfrm>
          <a:prstGeom prst="roundRect">
            <a:avLst>
              <a:gd name="adj" fmla="val 4216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6928" y="658368"/>
            <a:ext cx="3291840" cy="347472"/>
          </a:xfrm>
          <a:prstGeom prst="roundRect">
            <a:avLst>
              <a:gd name="adj" fmla="val 3157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37C8C3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6E2F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740664"/>
            <a:ext cx="3054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430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NIRO · Next Intelligent Resource Optimizer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6928" y="1325880"/>
            <a:ext cx="5532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Assistant: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1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Smart Work Companion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585216" y="297180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304E"/>
                </a:solidFill>
              </a:rPr>
              <a:t>A unified intelligence platform for H&amp;R Block Offshore Operations.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85216" y="351129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5708A"/>
                </a:solidFill>
              </a:rPr>
              <a:t>Smart · Trustworthy · Modern · Efficient · Wow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5216" y="4224528"/>
            <a:ext cx="4754880" cy="1143000"/>
          </a:xfrm>
          <a:prstGeom prst="roundRect">
            <a:avLst>
              <a:gd name="adj" fmla="val 144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6F6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C8D3E6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49808" y="4389120"/>
            <a:ext cx="402336" cy="402336"/>
          </a:xfrm>
          <a:prstGeom prst="ellipse">
            <a:avLst/>
          </a:prstGeom>
          <a:solidFill>
            <a:srgbClr val="BBA7FF">
              <a:alpha val="97000"/>
            </a:srgbClr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2104" y="44531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✦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43584" y="43799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33F"/>
                </a:solidFill>
              </a:rPr>
              <a:t>Cog in the engine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243584" y="4654296"/>
            <a:ext cx="39319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5708A"/>
                </a:solidFill>
              </a:rPr>
              <a:t>NIRO connects people, processes, systems, training resources and performance views without replacing existing workflows.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85216" y="5806440"/>
            <a:ext cx="2423160" cy="347472"/>
          </a:xfrm>
          <a:prstGeom prst="roundRect">
            <a:avLst>
              <a:gd name="adj" fmla="val 3157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D6B8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6E2F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04088" y="5888736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430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✨ Pitch-ready management concept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9921240" y="65471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F8BA5"/>
                </a:solidFill>
              </a:rPr>
              <a:t>NIRO Pitch  •  1/10</a:t>
            </a:r>
            <a:endParaRPr lang="en-US" sz="680" dirty="0"/>
          </a:p>
        </p:txBody>
      </p:sp>
      <p:sp>
        <p:nvSpPr>
          <p:cNvPr id="24" name="Shape 20"/>
          <p:cNvSpPr/>
          <p:nvPr/>
        </p:nvSpPr>
        <p:spPr>
          <a:xfrm>
            <a:off x="502920" y="6547104"/>
            <a:ext cx="347472" cy="73152"/>
          </a:xfrm>
          <a:prstGeom prst="roundRect">
            <a:avLst>
              <a:gd name="adj" fmla="val 37500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2926080" cy="2011680"/>
          </a:xfrm>
          <a:prstGeom prst="ellipse">
            <a:avLst/>
          </a:prstGeom>
          <a:solidFill>
            <a:srgbClr val="9CF5D5">
              <a:alpha val="24000"/>
            </a:srgbClr>
          </a:solidFill>
          <a:ln w="12700">
            <a:solidFill>
              <a:srgbClr val="9CF5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98280" y="91440"/>
            <a:ext cx="2926080" cy="2011680"/>
          </a:xfrm>
          <a:prstGeom prst="ellipse">
            <a:avLst/>
          </a:prstGeom>
          <a:solidFill>
            <a:srgbClr val="BBA7FF">
              <a:alpha val="23000"/>
            </a:srgbClr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0" y="5074920"/>
            <a:ext cx="3383280" cy="1508760"/>
          </a:xfrm>
          <a:prstGeom prst="ellipse">
            <a:avLst/>
          </a:prstGeom>
          <a:solidFill>
            <a:srgbClr val="FFD6B8">
              <a:alpha val="20000"/>
            </a:srgbClr>
          </a:solidFill>
          <a:ln w="12700">
            <a:solidFill>
              <a:srgbClr val="FFD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0" y="146304"/>
            <a:ext cx="2377440" cy="1051560"/>
          </a:xfrm>
          <a:prstGeom prst="ellipse">
            <a:avLst/>
          </a:prstGeom>
          <a:solidFill>
            <a:srgbClr val="DFF7FF">
              <a:alpha val="17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Work Is Slower Than It Should Be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1874520" cy="100584"/>
          </a:xfrm>
          <a:prstGeom prst="roundRect">
            <a:avLst>
              <a:gd name="adj" fmla="val 36364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896112"/>
            <a:ext cx="822960" cy="100584"/>
          </a:xfrm>
          <a:prstGeom prst="roundRect">
            <a:avLst>
              <a:gd name="adj" fmla="val 36364"/>
            </a:avLst>
          </a:prstGeom>
          <a:solidFill>
            <a:srgbClr val="BBA7FF"/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09560" y="3474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08A"/>
                </a:solidFill>
              </a:rPr>
              <a:t>Current friction points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" y="1216152"/>
            <a:ext cx="4892040" cy="5285232"/>
          </a:xfrm>
          <a:prstGeom prst="roundRect">
            <a:avLst>
              <a:gd name="adj" fmla="val 4673"/>
            </a:avLst>
          </a:prstGeom>
          <a:solidFill>
            <a:srgbClr val="CFE4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AFC2D8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1703e61e6c.jpeg"/>
          <p:cNvPicPr>
            <a:picLocks noChangeAspect="1"/>
          </p:cNvPicPr>
          <p:nvPr/>
        </p:nvPicPr>
        <p:blipFill>
          <a:blip r:embed="rId3"/>
          <a:srcRect l="19146" r="19146"/>
          <a:stretch/>
        </p:blipFill>
        <p:spPr>
          <a:xfrm>
            <a:off x="566928" y="1143000"/>
            <a:ext cx="4892040" cy="528523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1143000"/>
            <a:ext cx="4892040" cy="5285232"/>
          </a:xfrm>
          <a:prstGeom prst="roundRect">
            <a:avLst>
              <a:gd name="adj" fmla="val 467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53328" y="14904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933688" y="149047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345168" y="141732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933688" y="293522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464808" y="4325868"/>
            <a:ext cx="1810512" cy="18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933688" y="437997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833872" y="5742432"/>
            <a:ext cx="5440680" cy="475488"/>
          </a:xfrm>
          <a:prstGeom prst="roundRect">
            <a:avLst>
              <a:gd name="adj" fmla="val 30769"/>
            </a:avLst>
          </a:prstGeom>
          <a:solidFill>
            <a:srgbClr val="FFF2F3"/>
          </a:solidFill>
          <a:ln w="12700">
            <a:solidFill>
              <a:srgbClr val="FFD1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080760" y="588873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8233F"/>
                </a:solidFill>
              </a:rPr>
              <a:t>Result: teams spend energy chasing work instead of completing work.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9921240" y="65471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F8BA5"/>
                </a:solidFill>
              </a:rPr>
              <a:t>NIRO Pitch  •  2/10</a:t>
            </a:r>
            <a:endParaRPr lang="en-US" sz="680" dirty="0"/>
          </a:p>
        </p:txBody>
      </p:sp>
      <p:sp>
        <p:nvSpPr>
          <p:cNvPr id="42" name="Shape 38"/>
          <p:cNvSpPr/>
          <p:nvPr/>
        </p:nvSpPr>
        <p:spPr>
          <a:xfrm>
            <a:off x="502920" y="6547104"/>
            <a:ext cx="347472" cy="73152"/>
          </a:xfrm>
          <a:prstGeom prst="roundRect">
            <a:avLst>
              <a:gd name="adj" fmla="val 37500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7" name="Picture 226">
            <a:extLst>
              <a:ext uri="{FF2B5EF4-FFF2-40B4-BE49-F238E27FC236}">
                <a16:creationId xmlns:a16="http://schemas.microsoft.com/office/drawing/2014/main" id="{704B9925-9E0E-833D-2ECC-57FD5009C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1709784"/>
            <a:ext cx="5358848" cy="3365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2926080" cy="2011680"/>
          </a:xfrm>
          <a:prstGeom prst="ellipse">
            <a:avLst/>
          </a:prstGeom>
          <a:solidFill>
            <a:srgbClr val="9CF5D5">
              <a:alpha val="24000"/>
            </a:srgbClr>
          </a:solidFill>
          <a:ln w="12700">
            <a:solidFill>
              <a:srgbClr val="9CF5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98280" y="91440"/>
            <a:ext cx="2926080" cy="2011680"/>
          </a:xfrm>
          <a:prstGeom prst="ellipse">
            <a:avLst/>
          </a:prstGeom>
          <a:solidFill>
            <a:srgbClr val="BBA7FF">
              <a:alpha val="23000"/>
            </a:srgbClr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0" y="5074920"/>
            <a:ext cx="3383280" cy="1508760"/>
          </a:xfrm>
          <a:prstGeom prst="ellipse">
            <a:avLst/>
          </a:prstGeom>
          <a:solidFill>
            <a:srgbClr val="FFD6B8">
              <a:alpha val="20000"/>
            </a:srgbClr>
          </a:solidFill>
          <a:ln w="12700">
            <a:solidFill>
              <a:srgbClr val="FFD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0" y="146304"/>
            <a:ext cx="2377440" cy="1051560"/>
          </a:xfrm>
          <a:prstGeom prst="ellipse">
            <a:avLst/>
          </a:prstGeom>
          <a:solidFill>
            <a:srgbClr val="DFF7FF">
              <a:alpha val="17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Trusted Intelligence Layer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1874520" cy="100584"/>
          </a:xfrm>
          <a:prstGeom prst="roundRect">
            <a:avLst>
              <a:gd name="adj" fmla="val 36364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896112"/>
            <a:ext cx="822960" cy="100584"/>
          </a:xfrm>
          <a:prstGeom prst="roundRect">
            <a:avLst>
              <a:gd name="adj" fmla="val 36364"/>
            </a:avLst>
          </a:prstGeom>
          <a:solidFill>
            <a:srgbClr val="BBA7FF"/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09560" y="3474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08A"/>
                </a:solidFill>
              </a:rPr>
              <a:t>NIRO integration model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" y="1124712"/>
            <a:ext cx="11064240" cy="4069080"/>
          </a:xfrm>
          <a:prstGeom prst="roundRect">
            <a:avLst>
              <a:gd name="adj" fmla="val 5618"/>
            </a:avLst>
          </a:prstGeom>
          <a:solidFill>
            <a:srgbClr val="CFE4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AFC2D8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1aeccd2d22.jpeg"/>
          <p:cNvPicPr>
            <a:picLocks noChangeAspect="1"/>
          </p:cNvPicPr>
          <p:nvPr/>
        </p:nvPicPr>
        <p:blipFill>
          <a:blip r:embed="rId3"/>
          <a:srcRect t="22417" b="22417"/>
          <a:stretch/>
        </p:blipFill>
        <p:spPr>
          <a:xfrm>
            <a:off x="566928" y="1051560"/>
            <a:ext cx="11064240" cy="40690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66928" y="1051560"/>
            <a:ext cx="11064240" cy="4069080"/>
          </a:xfrm>
          <a:prstGeom prst="roundRect">
            <a:avLst>
              <a:gd name="adj" fmla="val 5618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5800" y="5486400"/>
            <a:ext cx="2148840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37C8C3"/>
            </a:solidFill>
            <a:prstDash val="solid"/>
          </a:ln>
          <a:effectLst>
            <a:outerShdw blurRad="12700" dist="50800" dir="2700000" algn="bl" rotWithShape="0">
              <a:srgbClr val="D2DDE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95528" y="5715000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8233F"/>
                </a:solidFill>
              </a:rPr>
              <a:t>Employees / Teams</a:t>
            </a:r>
            <a:endParaRPr lang="en-US" sz="970" dirty="0"/>
          </a:p>
        </p:txBody>
      </p:sp>
      <p:sp>
        <p:nvSpPr>
          <p:cNvPr id="16" name="Text 13"/>
          <p:cNvSpPr/>
          <p:nvPr/>
        </p:nvSpPr>
        <p:spPr>
          <a:xfrm>
            <a:off x="2907792" y="56875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5708A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971800" y="5486400"/>
            <a:ext cx="2148840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BBA7FF"/>
            </a:solidFill>
            <a:prstDash val="solid"/>
          </a:ln>
          <a:effectLst>
            <a:outerShdw blurRad="12700" dist="50800" dir="2700000" algn="bl" rotWithShape="0">
              <a:srgbClr val="D2DDE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081528" y="5715000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8233F"/>
                </a:solidFill>
              </a:rPr>
              <a:t>AI Trusted Layer</a:t>
            </a:r>
            <a:endParaRPr lang="en-US" sz="970" dirty="0"/>
          </a:p>
        </p:txBody>
      </p:sp>
      <p:sp>
        <p:nvSpPr>
          <p:cNvPr id="19" name="Text 16"/>
          <p:cNvSpPr/>
          <p:nvPr/>
        </p:nvSpPr>
        <p:spPr>
          <a:xfrm>
            <a:off x="5193792" y="56875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5708A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257800" y="5486400"/>
            <a:ext cx="2148840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4F8BFF"/>
            </a:solidFill>
            <a:prstDash val="solid"/>
          </a:ln>
          <a:effectLst>
            <a:outerShdw blurRad="12700" dist="50800" dir="2700000" algn="bl" rotWithShape="0">
              <a:srgbClr val="D2DDE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367528" y="5715000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8233F"/>
                </a:solidFill>
              </a:rPr>
              <a:t>ERP · HR · Finance · Ops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7479792" y="56875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5708A"/>
                </a:solidFill>
              </a:rPr>
              <a:t>→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543800" y="5486400"/>
            <a:ext cx="2148840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D6B8"/>
            </a:solidFill>
            <a:prstDash val="solid"/>
          </a:ln>
          <a:effectLst>
            <a:outerShdw blurRad="12700" dist="50800" dir="2700000" algn="bl" rotWithShape="0">
              <a:srgbClr val="D2DDE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653528" y="5715000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8233F"/>
                </a:solidFill>
              </a:rPr>
              <a:t>Knowledge </a:t>
            </a:r>
            <a:endParaRPr lang="en-US" sz="970" dirty="0"/>
          </a:p>
        </p:txBody>
      </p:sp>
      <p:sp>
        <p:nvSpPr>
          <p:cNvPr id="25" name="Text 22"/>
          <p:cNvSpPr/>
          <p:nvPr/>
        </p:nvSpPr>
        <p:spPr>
          <a:xfrm>
            <a:off x="9765792" y="56875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5708A"/>
                </a:solidFill>
              </a:rPr>
              <a:t>→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829800" y="5486400"/>
            <a:ext cx="2148840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43D18C"/>
            </a:solidFill>
            <a:prstDash val="solid"/>
          </a:ln>
          <a:effectLst>
            <a:outerShdw blurRad="12700" dist="50800" dir="2700000" algn="bl" rotWithShape="0">
              <a:srgbClr val="D2DDEB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939528" y="5715000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18233F"/>
                </a:solidFill>
              </a:rPr>
              <a:t>Faster Outputs</a:t>
            </a:r>
            <a:endParaRPr lang="en-US" sz="970" dirty="0"/>
          </a:p>
        </p:txBody>
      </p:sp>
      <p:sp>
        <p:nvSpPr>
          <p:cNvPr id="29" name="Text 25"/>
          <p:cNvSpPr/>
          <p:nvPr/>
        </p:nvSpPr>
        <p:spPr>
          <a:xfrm>
            <a:off x="9921240" y="65471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F8BA5"/>
                </a:solidFill>
              </a:rPr>
              <a:t>NIRO Pitch  •  3/10</a:t>
            </a:r>
            <a:endParaRPr lang="en-US" sz="680" dirty="0"/>
          </a:p>
        </p:txBody>
      </p:sp>
      <p:sp>
        <p:nvSpPr>
          <p:cNvPr id="30" name="Shape 26"/>
          <p:cNvSpPr/>
          <p:nvPr/>
        </p:nvSpPr>
        <p:spPr>
          <a:xfrm>
            <a:off x="502920" y="6547104"/>
            <a:ext cx="347472" cy="73152"/>
          </a:xfrm>
          <a:prstGeom prst="roundRect">
            <a:avLst>
              <a:gd name="adj" fmla="val 37500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2926080" cy="2011680"/>
          </a:xfrm>
          <a:prstGeom prst="ellipse">
            <a:avLst/>
          </a:prstGeom>
          <a:solidFill>
            <a:srgbClr val="9CF5D5">
              <a:alpha val="24000"/>
            </a:srgbClr>
          </a:solidFill>
          <a:ln w="12700">
            <a:solidFill>
              <a:srgbClr val="9CF5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98280" y="91440"/>
            <a:ext cx="2926080" cy="2011680"/>
          </a:xfrm>
          <a:prstGeom prst="ellipse">
            <a:avLst/>
          </a:prstGeom>
          <a:solidFill>
            <a:srgbClr val="BBA7FF">
              <a:alpha val="23000"/>
            </a:srgbClr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0" y="5074920"/>
            <a:ext cx="3383280" cy="1508760"/>
          </a:xfrm>
          <a:prstGeom prst="ellipse">
            <a:avLst/>
          </a:prstGeom>
          <a:solidFill>
            <a:srgbClr val="FFD6B8">
              <a:alpha val="20000"/>
            </a:srgbClr>
          </a:solidFill>
          <a:ln w="12700">
            <a:solidFill>
              <a:srgbClr val="FFD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0" y="146304"/>
            <a:ext cx="2377440" cy="1051560"/>
          </a:xfrm>
          <a:prstGeom prst="ellipse">
            <a:avLst/>
          </a:prstGeom>
          <a:solidFill>
            <a:srgbClr val="DFF7FF">
              <a:alpha val="17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Solution: One AI Assistant for Smarter Work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1874520" cy="100584"/>
          </a:xfrm>
          <a:prstGeom prst="roundRect">
            <a:avLst>
              <a:gd name="adj" fmla="val 36364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896112"/>
            <a:ext cx="822960" cy="100584"/>
          </a:xfrm>
          <a:prstGeom prst="roundRect">
            <a:avLst>
              <a:gd name="adj" fmla="val 36364"/>
            </a:avLst>
          </a:prstGeom>
          <a:solidFill>
            <a:srgbClr val="BBA7FF"/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09560" y="3474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08A"/>
                </a:solidFill>
              </a:rPr>
              <a:t>Reliable digital teammate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1078992"/>
            <a:ext cx="5074920" cy="5440680"/>
          </a:xfrm>
          <a:prstGeom prst="roundRect">
            <a:avLst>
              <a:gd name="adj" fmla="val 4505"/>
            </a:avLst>
          </a:prstGeom>
          <a:solidFill>
            <a:srgbClr val="CFE4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AFC2D8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58b5e2f259.jpeg"/>
          <p:cNvPicPr>
            <a:picLocks noChangeAspect="1"/>
          </p:cNvPicPr>
          <p:nvPr/>
        </p:nvPicPr>
        <p:blipFill>
          <a:blip r:embed="rId3"/>
          <a:srcRect l="18908" r="18908"/>
          <a:stretch/>
        </p:blipFill>
        <p:spPr>
          <a:xfrm>
            <a:off x="6446520" y="1005840"/>
            <a:ext cx="5074920" cy="54406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46520" y="1005840"/>
            <a:ext cx="5074920" cy="5440680"/>
          </a:xfrm>
          <a:prstGeom prst="roundRect">
            <a:avLst>
              <a:gd name="adj" fmla="val 4505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146304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138988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280160" y="1664208"/>
            <a:ext cx="1755648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703320" y="146304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114800" y="138988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114800" y="1664208"/>
            <a:ext cx="1755648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68680" y="298094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⚙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703320" y="298094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▥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68680" y="449884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↗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1280160" y="4700016"/>
            <a:ext cx="1755648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9921240" y="65471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F8BA5"/>
                </a:solidFill>
              </a:rPr>
              <a:t>NIRO Pitch  •  4/10</a:t>
            </a:r>
            <a:endParaRPr lang="en-US" sz="680" dirty="0"/>
          </a:p>
        </p:txBody>
      </p:sp>
      <p:sp>
        <p:nvSpPr>
          <p:cNvPr id="46" name="Shape 42"/>
          <p:cNvSpPr/>
          <p:nvPr/>
        </p:nvSpPr>
        <p:spPr>
          <a:xfrm>
            <a:off x="502920" y="6547104"/>
            <a:ext cx="347472" cy="73152"/>
          </a:xfrm>
          <a:prstGeom prst="roundRect">
            <a:avLst>
              <a:gd name="adj" fmla="val 37500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29A87308-C289-DEE9-764D-1A7A69C8DFDD}"/>
              </a:ext>
            </a:extLst>
          </p:cNvPr>
          <p:cNvSpPr/>
          <p:nvPr/>
        </p:nvSpPr>
        <p:spPr>
          <a:xfrm>
            <a:off x="1280160" y="3324280"/>
            <a:ext cx="1307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239" name="Picture 238">
            <a:extLst>
              <a:ext uri="{FF2B5EF4-FFF2-40B4-BE49-F238E27FC236}">
                <a16:creationId xmlns:a16="http://schemas.microsoft.com/office/drawing/2014/main" id="{C08C1E3F-08B2-E2E4-DEFD-29201A7D6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52" y="1937517"/>
            <a:ext cx="5358848" cy="3328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2926080" cy="2011680"/>
          </a:xfrm>
          <a:prstGeom prst="ellipse">
            <a:avLst/>
          </a:prstGeom>
          <a:solidFill>
            <a:srgbClr val="9CF5D5">
              <a:alpha val="24000"/>
            </a:srgbClr>
          </a:solidFill>
          <a:ln w="12700">
            <a:solidFill>
              <a:srgbClr val="9CF5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98280" y="91440"/>
            <a:ext cx="2926080" cy="2011680"/>
          </a:xfrm>
          <a:prstGeom prst="ellipse">
            <a:avLst/>
          </a:prstGeom>
          <a:solidFill>
            <a:srgbClr val="BBA7FF">
              <a:alpha val="23000"/>
            </a:srgbClr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0" y="5074920"/>
            <a:ext cx="3383280" cy="1508760"/>
          </a:xfrm>
          <a:prstGeom prst="ellipse">
            <a:avLst/>
          </a:prstGeom>
          <a:solidFill>
            <a:srgbClr val="FFD6B8">
              <a:alpha val="20000"/>
            </a:srgbClr>
          </a:solidFill>
          <a:ln w="12700">
            <a:solidFill>
              <a:srgbClr val="FFD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0" y="146304"/>
            <a:ext cx="2377440" cy="1051560"/>
          </a:xfrm>
          <a:prstGeom prst="ellipse">
            <a:avLst/>
          </a:prstGeom>
          <a:solidFill>
            <a:srgbClr val="DFF7FF">
              <a:alpha val="17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Manual Chaos to Smart Flow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1874520" cy="100584"/>
          </a:xfrm>
          <a:prstGeom prst="roundRect">
            <a:avLst>
              <a:gd name="adj" fmla="val 36364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896112"/>
            <a:ext cx="822960" cy="100584"/>
          </a:xfrm>
          <a:prstGeom prst="roundRect">
            <a:avLst>
              <a:gd name="adj" fmla="val 36364"/>
            </a:avLst>
          </a:prstGeom>
          <a:solidFill>
            <a:srgbClr val="BBA7FF"/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09560" y="3474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08A"/>
                </a:solidFill>
              </a:rPr>
              <a:t>Before vs After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" y="1243584"/>
            <a:ext cx="11018520" cy="3429000"/>
          </a:xfrm>
          <a:prstGeom prst="roundRect">
            <a:avLst>
              <a:gd name="adj" fmla="val 6667"/>
            </a:avLst>
          </a:prstGeom>
          <a:solidFill>
            <a:srgbClr val="CFE4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AFC2D8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85a504b8bd.jpeg"/>
          <p:cNvPicPr>
            <a:picLocks noChangeAspect="1"/>
          </p:cNvPicPr>
          <p:nvPr/>
        </p:nvPicPr>
        <p:blipFill>
          <a:blip r:embed="rId3"/>
          <a:srcRect t="26660" b="26660"/>
          <a:stretch/>
        </p:blipFill>
        <p:spPr>
          <a:xfrm>
            <a:off x="585216" y="1170432"/>
            <a:ext cx="11018520" cy="3429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85216" y="1170432"/>
            <a:ext cx="11018520" cy="3429000"/>
          </a:xfrm>
          <a:prstGeom prst="roundRect">
            <a:avLst>
              <a:gd name="adj" fmla="val 66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" y="4892040"/>
            <a:ext cx="5303520" cy="1325880"/>
          </a:xfrm>
          <a:prstGeom prst="roundRect">
            <a:avLst>
              <a:gd name="adj" fmla="val 13793"/>
            </a:avLst>
          </a:prstGeom>
          <a:solidFill>
            <a:srgbClr val="FFF3F5"/>
          </a:solidFill>
          <a:ln w="12700">
            <a:solidFill>
              <a:srgbClr val="FFC7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63640" y="4892040"/>
            <a:ext cx="5303520" cy="1325880"/>
          </a:xfrm>
          <a:prstGeom prst="roundRect">
            <a:avLst>
              <a:gd name="adj" fmla="val 13793"/>
            </a:avLst>
          </a:prstGeom>
          <a:solidFill>
            <a:srgbClr val="F0FFF9"/>
          </a:solidFill>
          <a:ln w="12700">
            <a:solidFill>
              <a:srgbClr val="B9F2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5102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F6D"/>
                </a:solidFill>
              </a:rPr>
              <a:t>BEFORE  ⚠️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548640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4304E"/>
                </a:solidFill>
              </a:rPr>
              <a:t>Slow searching · Manual updates · Repeated questions 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6492240" y="51023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D18C"/>
                </a:solidFill>
              </a:rPr>
              <a:t>AFTER  ✅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92240" y="548640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24304E"/>
                </a:solidFill>
              </a:rPr>
              <a:t>Instant answers · Faster decisions · Better accuracy</a:t>
            </a:r>
            <a:endParaRPr lang="en-US" sz="1020" dirty="0"/>
          </a:p>
        </p:txBody>
      </p:sp>
      <p:sp>
        <p:nvSpPr>
          <p:cNvPr id="21" name="Text 17"/>
          <p:cNvSpPr/>
          <p:nvPr/>
        </p:nvSpPr>
        <p:spPr>
          <a:xfrm>
            <a:off x="9921240" y="65471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F8BA5"/>
                </a:solidFill>
              </a:rPr>
              <a:t>NIRO Pitch  •  6/10</a:t>
            </a:r>
            <a:endParaRPr lang="en-US" sz="680" dirty="0"/>
          </a:p>
        </p:txBody>
      </p:sp>
      <p:sp>
        <p:nvSpPr>
          <p:cNvPr id="22" name="Shape 18"/>
          <p:cNvSpPr/>
          <p:nvPr/>
        </p:nvSpPr>
        <p:spPr>
          <a:xfrm>
            <a:off x="502920" y="6547104"/>
            <a:ext cx="347472" cy="73152"/>
          </a:xfrm>
          <a:prstGeom prst="roundRect">
            <a:avLst>
              <a:gd name="adj" fmla="val 37500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2926080" cy="2011680"/>
          </a:xfrm>
          <a:prstGeom prst="ellipse">
            <a:avLst/>
          </a:prstGeom>
          <a:solidFill>
            <a:srgbClr val="9CF5D5">
              <a:alpha val="24000"/>
            </a:srgbClr>
          </a:solidFill>
          <a:ln w="12700">
            <a:solidFill>
              <a:srgbClr val="9CF5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98280" y="91440"/>
            <a:ext cx="2926080" cy="2011680"/>
          </a:xfrm>
          <a:prstGeom prst="ellipse">
            <a:avLst/>
          </a:prstGeom>
          <a:solidFill>
            <a:srgbClr val="BBA7FF">
              <a:alpha val="23000"/>
            </a:srgbClr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0" y="5074920"/>
            <a:ext cx="3383280" cy="1508760"/>
          </a:xfrm>
          <a:prstGeom prst="ellipse">
            <a:avLst/>
          </a:prstGeom>
          <a:solidFill>
            <a:srgbClr val="FFD6B8">
              <a:alpha val="20000"/>
            </a:srgbClr>
          </a:solidFill>
          <a:ln w="12700">
            <a:solidFill>
              <a:srgbClr val="FFD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0" y="146304"/>
            <a:ext cx="2377440" cy="1051560"/>
          </a:xfrm>
          <a:prstGeom prst="ellipse">
            <a:avLst/>
          </a:prstGeom>
          <a:solidFill>
            <a:srgbClr val="DFF7FF">
              <a:alpha val="17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That Management Will Care About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1874520" cy="100584"/>
          </a:xfrm>
          <a:prstGeom prst="roundRect">
            <a:avLst>
              <a:gd name="adj" fmla="val 36364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896112"/>
            <a:ext cx="822960" cy="100584"/>
          </a:xfrm>
          <a:prstGeom prst="roundRect">
            <a:avLst>
              <a:gd name="adj" fmla="val 36364"/>
            </a:avLst>
          </a:prstGeom>
          <a:solidFill>
            <a:srgbClr val="BBA7FF"/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09560" y="3474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5708A"/>
                </a:solidFill>
              </a:rPr>
              <a:t>Measurable operating value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45352" y="1078992"/>
            <a:ext cx="5349240" cy="5394960"/>
          </a:xfrm>
          <a:prstGeom prst="roundRect">
            <a:avLst>
              <a:gd name="adj" fmla="val 4274"/>
            </a:avLst>
          </a:prstGeom>
          <a:solidFill>
            <a:srgbClr val="CFE4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AFC2D8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a7695d35dd.jpeg"/>
          <p:cNvPicPr>
            <a:picLocks noChangeAspect="1"/>
          </p:cNvPicPr>
          <p:nvPr/>
        </p:nvPicPr>
        <p:blipFill>
          <a:blip r:embed="rId3"/>
          <a:srcRect l="16949" r="16949"/>
          <a:stretch/>
        </p:blipFill>
        <p:spPr>
          <a:xfrm>
            <a:off x="6199632" y="1005840"/>
            <a:ext cx="5349240" cy="53949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99632" y="1005840"/>
            <a:ext cx="5349240" cy="5394960"/>
          </a:xfrm>
          <a:prstGeom prst="roundRect">
            <a:avLst>
              <a:gd name="adj" fmla="val 42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" y="1188720"/>
            <a:ext cx="2487168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6F6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C8D3E6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4672" y="1353312"/>
            <a:ext cx="402336" cy="402336"/>
          </a:xfrm>
          <a:prstGeom prst="ellipse">
            <a:avLst/>
          </a:prstGeom>
          <a:solidFill>
            <a:srgbClr val="37C8C3">
              <a:alpha val="97000"/>
            </a:srgbClr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86968" y="141732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⏱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98448" y="13441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33F"/>
                </a:solidFill>
              </a:rPr>
              <a:t>Saves employee time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298448" y="1618488"/>
            <a:ext cx="166420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5708A"/>
                </a:solidFill>
              </a:rPr>
              <a:t>Less searching, faster work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1188720"/>
            <a:ext cx="2487168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6F6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C8D3E6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547872" y="1353312"/>
            <a:ext cx="402336" cy="402336"/>
          </a:xfrm>
          <a:prstGeom prst="ellipse">
            <a:avLst/>
          </a:prstGeom>
          <a:solidFill>
            <a:srgbClr val="4F8BFF">
              <a:alpha val="97000"/>
            </a:srgbClr>
          </a:solidFill>
          <a:ln w="12700">
            <a:solidFill>
              <a:srgbClr val="4F8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30168" y="141732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↗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041648" y="13441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33F"/>
                </a:solidFill>
              </a:rPr>
              <a:t>Improves productivity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041648" y="1618488"/>
            <a:ext cx="166420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5708A"/>
                </a:solidFill>
              </a:rPr>
              <a:t>More output from same capacity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0080" y="2670048"/>
            <a:ext cx="2487168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6F6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C8D3E6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04672" y="2834640"/>
            <a:ext cx="402336" cy="402336"/>
          </a:xfrm>
          <a:prstGeom prst="ellipse">
            <a:avLst/>
          </a:prstGeom>
          <a:solidFill>
            <a:srgbClr val="BBA7FF">
              <a:alpha val="97000"/>
            </a:srgbClr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86968" y="289864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🔗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98448" y="282549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33F"/>
                </a:solidFill>
              </a:rPr>
              <a:t>Reduces dependency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298448" y="3099816"/>
            <a:ext cx="166420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5708A"/>
                </a:solidFill>
              </a:rPr>
              <a:t>Clear answers at the point of work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383280" y="2670048"/>
            <a:ext cx="2487168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6F6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C8D3E6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547872" y="2834640"/>
            <a:ext cx="402336" cy="402336"/>
          </a:xfrm>
          <a:prstGeom prst="ellipse">
            <a:avLst/>
          </a:prstGeom>
          <a:solidFill>
            <a:srgbClr val="FFD6B8">
              <a:alpha val="97000"/>
            </a:srgbClr>
          </a:solidFill>
          <a:ln w="12700">
            <a:solidFill>
              <a:srgbClr val="FFD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630168" y="289864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▣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041648" y="282549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33F"/>
                </a:solidFill>
              </a:rPr>
              <a:t>Standardizes knowledge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4041648" y="3099816"/>
            <a:ext cx="166420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5708A"/>
                </a:solidFill>
              </a:rPr>
              <a:t>Same process guidance for all teams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40080" y="4151376"/>
            <a:ext cx="2487168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6F6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C8D3E6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804672" y="4315968"/>
            <a:ext cx="402336" cy="402336"/>
          </a:xfrm>
          <a:prstGeom prst="ellipse">
            <a:avLst/>
          </a:prstGeom>
          <a:solidFill>
            <a:srgbClr val="43D18C">
              <a:alpha val="97000"/>
            </a:srgbClr>
          </a:solidFill>
          <a:ln w="12700">
            <a:solidFill>
              <a:srgbClr val="43D1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86968" y="437997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298448" y="430682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33F"/>
                </a:solidFill>
              </a:rPr>
              <a:t>Improves accuracy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298448" y="4581144"/>
            <a:ext cx="166420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5708A"/>
                </a:solidFill>
              </a:rPr>
              <a:t>Quality checkpoints and risk alerts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383280" y="4151376"/>
            <a:ext cx="2487168" cy="1115568"/>
          </a:xfrm>
          <a:prstGeom prst="roundRect">
            <a:avLst>
              <a:gd name="adj" fmla="val 1475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6F6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C8D3E6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3547872" y="4315968"/>
            <a:ext cx="402336" cy="402336"/>
          </a:xfrm>
          <a:prstGeom prst="ellipse">
            <a:avLst/>
          </a:prstGeom>
          <a:solidFill>
            <a:srgbClr val="FFB647">
              <a:alpha val="97000"/>
            </a:srgbClr>
          </a:solidFill>
          <a:ln w="12700">
            <a:solidFill>
              <a:srgbClr val="FFB6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630168" y="437997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◆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041648" y="430682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33F"/>
                </a:solidFill>
              </a:rPr>
              <a:t>Scales growth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4041648" y="4581144"/>
            <a:ext cx="1664208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5708A"/>
                </a:solidFill>
              </a:rPr>
              <a:t>Reusable intelligence across departments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9921240" y="65471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F8BA5"/>
                </a:solidFill>
              </a:rPr>
              <a:t>NIRO Pitch  •  7/10</a:t>
            </a:r>
            <a:endParaRPr lang="en-US" sz="680" dirty="0"/>
          </a:p>
        </p:txBody>
      </p:sp>
      <p:sp>
        <p:nvSpPr>
          <p:cNvPr id="46" name="Shape 42"/>
          <p:cNvSpPr/>
          <p:nvPr/>
        </p:nvSpPr>
        <p:spPr>
          <a:xfrm>
            <a:off x="502920" y="6547104"/>
            <a:ext cx="347472" cy="73152"/>
          </a:xfrm>
          <a:prstGeom prst="roundRect">
            <a:avLst>
              <a:gd name="adj" fmla="val 37500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4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605E35CD-8D6C-A0F3-F05F-4650A6C736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99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2C70A80C-CA8E-5D3D-7FD9-41D9DCBE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88" y="91150"/>
            <a:ext cx="11900423" cy="667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8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2926080" cy="2011680"/>
          </a:xfrm>
          <a:prstGeom prst="ellipse">
            <a:avLst/>
          </a:prstGeom>
          <a:solidFill>
            <a:srgbClr val="9CF5D5">
              <a:alpha val="24000"/>
            </a:srgbClr>
          </a:solidFill>
          <a:ln w="12700">
            <a:solidFill>
              <a:srgbClr val="9CF5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98280" y="91440"/>
            <a:ext cx="2926080" cy="2011680"/>
          </a:xfrm>
          <a:prstGeom prst="ellipse">
            <a:avLst/>
          </a:prstGeom>
          <a:solidFill>
            <a:srgbClr val="BBA7FF">
              <a:alpha val="23000"/>
            </a:srgbClr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0" y="5074920"/>
            <a:ext cx="3383280" cy="1508760"/>
          </a:xfrm>
          <a:prstGeom prst="ellipse">
            <a:avLst/>
          </a:prstGeom>
          <a:solidFill>
            <a:srgbClr val="FFD6B8">
              <a:alpha val="20000"/>
            </a:srgbClr>
          </a:solidFill>
          <a:ln w="12700">
            <a:solidFill>
              <a:srgbClr val="FFD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0" y="146304"/>
            <a:ext cx="2377440" cy="1051560"/>
          </a:xfrm>
          <a:prstGeom prst="ellipse">
            <a:avLst/>
          </a:prstGeom>
          <a:solidFill>
            <a:srgbClr val="DFF7FF">
              <a:alpha val="17000"/>
            </a:srgbClr>
          </a:solidFill>
          <a:ln w="12700">
            <a:solidFill>
              <a:srgbClr val="DFF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63640" y="667512"/>
            <a:ext cx="5440680" cy="5715000"/>
          </a:xfrm>
          <a:prstGeom prst="roundRect">
            <a:avLst>
              <a:gd name="adj" fmla="val 4202"/>
            </a:avLst>
          </a:prstGeom>
          <a:solidFill>
            <a:srgbClr val="CFE4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AFC2D8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f7f396d7d7.jpeg"/>
          <p:cNvPicPr>
            <a:picLocks noChangeAspect="1"/>
          </p:cNvPicPr>
          <p:nvPr/>
        </p:nvPicPr>
        <p:blipFill>
          <a:blip r:embed="rId3"/>
          <a:srcRect l="18267" r="18267"/>
          <a:stretch/>
        </p:blipFill>
        <p:spPr>
          <a:xfrm>
            <a:off x="6217920" y="594360"/>
            <a:ext cx="5440680" cy="5715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594360"/>
            <a:ext cx="5440680" cy="5715000"/>
          </a:xfrm>
          <a:prstGeom prst="roundRect">
            <a:avLst>
              <a:gd name="adj" fmla="val 4202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658368"/>
            <a:ext cx="3063240" cy="347472"/>
          </a:xfrm>
          <a:prstGeom prst="roundRect">
            <a:avLst>
              <a:gd name="adj" fmla="val 3157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37C8C3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6E2F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13232" y="740664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430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NIRO · Unified Intelligence Platform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1417320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Let’s Build the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of Work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21792" y="2852928"/>
            <a:ext cx="5257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304E"/>
                </a:solidFill>
              </a:rPr>
              <a:t>The NIRO AI Assistant is not just a tool.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4304E"/>
                </a:solidFill>
              </a:rPr>
              <a:t>It is a trusted work companion that helps teams move faster, work smarter, and make better decisions.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4343400"/>
            <a:ext cx="4800600" cy="987552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6F6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C8D3E6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86384" y="4507992"/>
            <a:ext cx="402336" cy="402336"/>
          </a:xfrm>
          <a:prstGeom prst="ellipse">
            <a:avLst/>
          </a:prstGeom>
          <a:solidFill>
            <a:srgbClr val="BBA7FF">
              <a:alpha val="97000"/>
            </a:srgbClr>
          </a:solidFill>
          <a:ln w="12700">
            <a:solidFill>
              <a:srgbClr val="BB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457200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44988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33F"/>
                </a:solidFill>
              </a:rPr>
              <a:t>Management ask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280160" y="4773168"/>
            <a:ext cx="39776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5708A"/>
                </a:solidFill>
              </a:rPr>
              <a:t>Approve a focused prototype to prove value with selected offshore teams.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21792" y="5715000"/>
            <a:ext cx="2606040" cy="347472"/>
          </a:xfrm>
          <a:prstGeom prst="roundRect">
            <a:avLst>
              <a:gd name="adj" fmla="val 3157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D6B8">
                <a:alpha val="65000"/>
              </a:srgbClr>
            </a:solidFill>
            <a:prstDash val="solid"/>
          </a:ln>
          <a:effectLst>
            <a:outerShdw blurRad="12700" dist="50800" dir="2700000" algn="bl" rotWithShape="0">
              <a:srgbClr val="D6E2F5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0664" y="5797296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430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✨ Smart · Soulful · Scalable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9921240" y="65471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7F8BA5"/>
                </a:solidFill>
              </a:rPr>
              <a:t>NIRO Pitch  •  10/10</a:t>
            </a:r>
            <a:endParaRPr lang="en-US" sz="680" dirty="0"/>
          </a:p>
        </p:txBody>
      </p:sp>
      <p:sp>
        <p:nvSpPr>
          <p:cNvPr id="23" name="Shape 19"/>
          <p:cNvSpPr/>
          <p:nvPr/>
        </p:nvSpPr>
        <p:spPr>
          <a:xfrm>
            <a:off x="502920" y="6547104"/>
            <a:ext cx="347472" cy="73152"/>
          </a:xfrm>
          <a:prstGeom prst="roundRect">
            <a:avLst>
              <a:gd name="adj" fmla="val 37500"/>
            </a:avLst>
          </a:prstGeom>
          <a:solidFill>
            <a:srgbClr val="37C8C3"/>
          </a:solidFill>
          <a:ln w="12700">
            <a:solidFill>
              <a:srgbClr val="37C8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499</Words>
  <Application>Microsoft Office PowerPoint</Application>
  <PresentationFormat>Widescreen</PresentationFormat>
  <Paragraphs>87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 and R Block Offshore Operations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Assistant: The Smart Work Companion</dc:title>
  <dc:subject>NIRO AI Assistant pitch</dc:subject>
  <dc:creator>Agarwal, Riya</dc:creator>
  <cp:lastModifiedBy>Agarwal, Riya</cp:lastModifiedBy>
  <cp:revision>3</cp:revision>
  <dcterms:created xsi:type="dcterms:W3CDTF">2026-08-13T05:44:24Z</dcterms:created>
  <dcterms:modified xsi:type="dcterms:W3CDTF">2026-08-13T10:10:03Z</dcterms:modified>
</cp:coreProperties>
</file>